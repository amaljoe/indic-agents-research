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6301"/>
  </p:normalViewPr>
  <p:slideViewPr>
    <p:cSldViewPr snapToGrid="0">
      <p:cViewPr varScale="1">
        <p:scale>
          <a:sx n="123" d="100"/>
          <a:sy n="123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398F3-EEA5-2C4B-A315-F0B62A9FB38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ADF20-9F74-AB44-9550-4BAF2A18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5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 NAMO GANAPATHAYEN NAMAHA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ADF20-9F74-AB44-9550-4BAF2A18ED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22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535C-1C62-B9EE-BEAD-1DA2D145D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D38EB-3031-5B04-4AE5-5023EC198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98697-29D2-06E2-C1EF-745DCF6D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14EA8-DD69-E03D-FF60-5009F40E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01E8-B0D3-4745-D5DC-EAC7D34A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489B-615A-05D5-8AEA-8E864852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E42D-C81A-E5B4-825A-4DF0AF15C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FF96C-C1B4-B5D0-53F0-6CBF9C27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C8D5-EADB-31A9-F41D-691FF4BE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2B365-6987-670C-7492-D61BC840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2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EE7E-F4F6-9E3B-1C0F-F32303F4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7337E-27BD-4E67-ED51-81B6F461E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1A2DE-FA4E-34F6-0A76-20D8B6DB8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6C8D4-776D-BBCA-F250-E9495B99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3507-4976-2EB1-3697-D33296FD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EFE2-EB99-A0F4-FEE6-ACE7EC4A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5688-3D92-CEA4-221D-9E26428AD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BC033-5D02-4DCA-65FA-7D5FB2A47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CBCA5-EAAC-99CD-43F9-A428D7DB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D32A2-EC41-1BB2-66C3-446C59CD0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E9CF1-808B-2ECD-D7D1-03EE33B1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6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107A-B1A7-CC9C-BFB5-9E88FC8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9FC5B-D154-3E1C-5D12-ED087F1E7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DEF48-562B-255F-88EC-58F20CB1D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BBDB3-A41C-FDA1-A328-15D39FF6A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460B0-6B5E-57A8-33DA-0352ACB70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081B8-9E27-DDD2-9BA6-2276F153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D0D7A-8CB0-FEA0-872A-8436D692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66D1F-BD86-4264-90DE-6114C07C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1617-0D0A-4D1E-CAA2-FCDF64BF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7373A-B072-AAB7-C175-3E36A167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2CEF0-83C2-414E-2066-9EE99798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5E1C8-C89E-2F34-0FA1-AE2A34DA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5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73731-56CB-104F-B05B-5D8D1A57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B751A-61D2-ABF9-14BA-C5F70D1F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EACB0-116F-ECDD-14D7-FBE6A878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E0D4-D0BA-7B95-3AEC-60808D8E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FED9-0283-A2B7-7850-813AE251B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4C97A-4EA6-1694-0208-BC4DEE951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D11FC-524F-CE65-AF4C-A10572E91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CE5EB-F6D1-1800-55E3-AE56C289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A9E97-8381-4183-644B-9A8909A0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9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85B2-5C4A-935F-4002-9F7A4728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0C077-7AFD-707C-AB41-C6B7C5E8B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C08E9-333A-C6F5-8EA9-8287BFE73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807ED-00B2-2844-D18D-2EB74A418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08A58-8460-549E-B010-5243A4D1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59172-8B71-68DC-D51B-425F7D49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E223-8E8F-A639-B1CC-B233BF1D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A2E32-7A0C-7EDD-401A-8842A3278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0BB0-B561-0D08-0961-A7403236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012A0-93AB-1A90-50E5-824974E4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0936-B104-AA84-80E2-C0C738AE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0F3D9-F496-9007-6E32-091DB2283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38112-12D8-8DAA-C14B-572BC8465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D7A99-2D10-0DC9-907F-4CBBA08A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6711B-0C16-0B17-0120-08AA3AEE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A90A-65A0-8CE4-F874-B6D7995C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2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85638-FA18-B297-B938-84079A9F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5F0C4-9CE7-E2C6-F67D-28941B00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72F53-CCE0-E5D5-CE44-1C500E232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4F3AA-80E9-6E4E-8389-17D204F886A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58D64-5F50-4988-36A1-D20A05750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B1844-FE58-C3CC-EB94-70E80E193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F2445-08C1-3441-B9D7-6F5E8D90B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1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5.findings-emnlp.849.pdf" TargetMode="External"/><Relationship Id="rId2" Type="http://schemas.openxmlformats.org/officeDocument/2006/relationships/hyperlink" Target="https://aclanthology.org/2025.acl-long.11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601.12091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7B92-D562-9021-4C47-3B7008E6C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Agentic Memory For Sovereign Indic AI Agents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59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29B846-426B-4D01-BADC-6B865D12CD12}"/>
              </a:ext>
            </a:extLst>
          </p:cNvPr>
          <p:cNvGrpSpPr/>
          <p:nvPr/>
        </p:nvGrpSpPr>
        <p:grpSpPr>
          <a:xfrm>
            <a:off x="1306551" y="1549216"/>
            <a:ext cx="9613286" cy="3510745"/>
            <a:chOff x="5811746" y="1778003"/>
            <a:chExt cx="6119648" cy="258234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E1E7C5B-0907-10E8-76CF-019B7DC076C9}"/>
                </a:ext>
              </a:extLst>
            </p:cNvPr>
            <p:cNvSpPr/>
            <p:nvPr/>
          </p:nvSpPr>
          <p:spPr>
            <a:xfrm>
              <a:off x="5811746" y="1778003"/>
              <a:ext cx="2901710" cy="2582346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3EC906-F99D-1A5D-9B04-0211484C9D24}"/>
                </a:ext>
              </a:extLst>
            </p:cNvPr>
            <p:cNvSpPr/>
            <p:nvPr/>
          </p:nvSpPr>
          <p:spPr>
            <a:xfrm>
              <a:off x="6598737" y="2681422"/>
              <a:ext cx="897519" cy="564345"/>
            </a:xfrm>
            <a:prstGeom prst="rect">
              <a:avLst/>
            </a:prstGeom>
            <a:solidFill>
              <a:srgbClr val="00B050">
                <a:alpha val="6973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</a:t>
              </a:r>
              <a:r>
                <a:rPr lang="en-US" baseline="-25000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C31FAC-0C3A-6E59-2414-C3C698E99B67}"/>
                </a:ext>
              </a:extLst>
            </p:cNvPr>
            <p:cNvSpPr/>
            <p:nvPr/>
          </p:nvSpPr>
          <p:spPr>
            <a:xfrm>
              <a:off x="7890272" y="2192529"/>
              <a:ext cx="478787" cy="430112"/>
            </a:xfrm>
            <a:prstGeom prst="rect">
              <a:avLst/>
            </a:prstGeom>
            <a:solidFill>
              <a:srgbClr val="00B050">
                <a:alpha val="6973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SA</a:t>
              </a:r>
              <a:r>
                <a:rPr lang="en-US" baseline="-25000" dirty="0">
                  <a:solidFill>
                    <a:schemeClr val="tx1"/>
                  </a:solidFill>
                </a:rPr>
                <a:t>1,1</a:t>
              </a:r>
            </a:p>
          </p:txBody>
        </p:sp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485535E0-C5C8-8FD5-C1DB-CBB3E0C54467}"/>
                </a:ext>
              </a:extLst>
            </p:cNvPr>
            <p:cNvSpPr/>
            <p:nvPr/>
          </p:nvSpPr>
          <p:spPr>
            <a:xfrm>
              <a:off x="6131573" y="1899635"/>
              <a:ext cx="1730145" cy="564345"/>
            </a:xfrm>
            <a:prstGeom prst="cloud">
              <a:avLst/>
            </a:prstGeom>
            <a:solidFill>
              <a:srgbClr val="00B050">
                <a:alpha val="17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Environment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71DE382-08F8-8F99-170B-2F2339EFE9A5}"/>
                </a:ext>
              </a:extLst>
            </p:cNvPr>
            <p:cNvCxnSpPr>
              <a:cxnSpLocks/>
              <a:stCxn id="8" idx="1"/>
              <a:endCxn id="6" idx="0"/>
            </p:cNvCxnSpPr>
            <p:nvPr/>
          </p:nvCxnSpPr>
          <p:spPr>
            <a:xfrm>
              <a:off x="6996646" y="2463379"/>
              <a:ext cx="50851" cy="21804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BEC2460-D23D-228C-2D72-5F9383BE0F0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7496256" y="2407585"/>
              <a:ext cx="394016" cy="55601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0AA1FFF-BA58-EC5B-A504-2E81A7ADD47C}"/>
                </a:ext>
              </a:extLst>
            </p:cNvPr>
            <p:cNvCxnSpPr>
              <a:cxnSpLocks/>
              <a:stCxn id="6" idx="3"/>
              <a:endCxn id="31" idx="1"/>
            </p:cNvCxnSpPr>
            <p:nvPr/>
          </p:nvCxnSpPr>
          <p:spPr>
            <a:xfrm flipV="1">
              <a:off x="7496256" y="2960704"/>
              <a:ext cx="373649" cy="289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92571B-1606-F0FE-09B0-77B1C507509B}"/>
                </a:ext>
              </a:extLst>
            </p:cNvPr>
            <p:cNvCxnSpPr>
              <a:cxnSpLocks/>
              <a:stCxn id="6" idx="3"/>
              <a:endCxn id="34" idx="1"/>
            </p:cNvCxnSpPr>
            <p:nvPr/>
          </p:nvCxnSpPr>
          <p:spPr>
            <a:xfrm>
              <a:off x="7496256" y="2963595"/>
              <a:ext cx="373738" cy="9140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46E391-AFA6-595E-4FE9-A74832A6BF5A}"/>
                </a:ext>
              </a:extLst>
            </p:cNvPr>
            <p:cNvSpPr/>
            <p:nvPr/>
          </p:nvSpPr>
          <p:spPr>
            <a:xfrm>
              <a:off x="9813653" y="1778003"/>
              <a:ext cx="2095850" cy="25372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B7845D6-C5DE-B88C-C2ED-8C6BB137627C}"/>
                </a:ext>
              </a:extLst>
            </p:cNvPr>
            <p:cNvCxnSpPr>
              <a:cxnSpLocks/>
            </p:cNvCxnSpPr>
            <p:nvPr/>
          </p:nvCxnSpPr>
          <p:spPr>
            <a:xfrm>
              <a:off x="8713456" y="2416791"/>
              <a:ext cx="11779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911E06E-97F0-6A65-FFC7-1697388F11CA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8713456" y="3865632"/>
              <a:ext cx="1177983" cy="117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05162C-B9AC-AE7B-EF7F-3EA4DDA2BB93}"/>
                </a:ext>
              </a:extLst>
            </p:cNvPr>
            <p:cNvSpPr/>
            <p:nvPr/>
          </p:nvSpPr>
          <p:spPr>
            <a:xfrm>
              <a:off x="9891440" y="2272438"/>
              <a:ext cx="1896829" cy="25875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Textual memory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9E2D9F5-63BD-12EE-2112-8531B2FE8605}"/>
                </a:ext>
              </a:extLst>
            </p:cNvPr>
            <p:cNvSpPr/>
            <p:nvPr/>
          </p:nvSpPr>
          <p:spPr>
            <a:xfrm>
              <a:off x="9891440" y="2723661"/>
              <a:ext cx="1896830" cy="66383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Parameterized Internal Memory (e.g tuned model, adapters, steering vectors)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BEF5B2B-1DE0-8194-4991-B59C55F36C86}"/>
                </a:ext>
              </a:extLst>
            </p:cNvPr>
            <p:cNvSpPr/>
            <p:nvPr/>
          </p:nvSpPr>
          <p:spPr>
            <a:xfrm>
              <a:off x="9891440" y="3556407"/>
              <a:ext cx="1896830" cy="64188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Parameterized External Memory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</a:t>
              </a:r>
              <a:r>
                <a:rPr lang="en-US" dirty="0" err="1">
                  <a:solidFill>
                    <a:schemeClr val="tx1"/>
                  </a:solidFill>
                </a:rPr>
                <a:t>e.g</a:t>
              </a:r>
              <a:r>
                <a:rPr lang="en-US" dirty="0">
                  <a:solidFill>
                    <a:schemeClr val="tx1"/>
                  </a:solidFill>
                </a:rPr>
                <a:t> plugin decoders)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E12B737-C473-E6B3-B2DD-E798C885BEEE}"/>
                </a:ext>
              </a:extLst>
            </p:cNvPr>
            <p:cNvSpPr/>
            <p:nvPr/>
          </p:nvSpPr>
          <p:spPr>
            <a:xfrm>
              <a:off x="6118413" y="2447507"/>
              <a:ext cx="382776" cy="1774983"/>
            </a:xfrm>
            <a:prstGeom prst="rect">
              <a:avLst/>
            </a:prstGeom>
            <a:solidFill>
              <a:srgbClr val="FF0000">
                <a:alpha val="17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46C3F4-19CD-94E8-A0A9-1EFE4E9F3EED}"/>
                </a:ext>
              </a:extLst>
            </p:cNvPr>
            <p:cNvSpPr txBox="1"/>
            <p:nvPr/>
          </p:nvSpPr>
          <p:spPr>
            <a:xfrm rot="16200000">
              <a:off x="5507346" y="3113345"/>
              <a:ext cx="1568230" cy="411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Context Engineering</a:t>
              </a:r>
              <a:endParaRPr lang="en-US" dirty="0"/>
            </a:p>
          </p:txBody>
        </p: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FEDEEFE0-262B-6385-9D6F-A660AA255027}"/>
                </a:ext>
              </a:extLst>
            </p:cNvPr>
            <p:cNvCxnSpPr>
              <a:cxnSpLocks/>
              <a:stCxn id="24" idx="2"/>
              <a:endCxn id="14" idx="2"/>
            </p:cNvCxnSpPr>
            <p:nvPr/>
          </p:nvCxnSpPr>
          <p:spPr>
            <a:xfrm rot="16200000" flipH="1">
              <a:off x="8539287" y="1993003"/>
              <a:ext cx="92806" cy="4551778"/>
            </a:xfrm>
            <a:prstGeom prst="bentConnector3">
              <a:avLst>
                <a:gd name="adj1" fmla="val 281183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8B12B4-EF96-7D40-064D-DFDFDB035C7C}"/>
                </a:ext>
              </a:extLst>
            </p:cNvPr>
            <p:cNvSpPr txBox="1"/>
            <p:nvPr/>
          </p:nvSpPr>
          <p:spPr>
            <a:xfrm>
              <a:off x="9813653" y="1836380"/>
              <a:ext cx="21177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Memory System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4DC86C-230F-D432-BB40-5DC6799E6E70}"/>
                </a:ext>
              </a:extLst>
            </p:cNvPr>
            <p:cNvSpPr/>
            <p:nvPr/>
          </p:nvSpPr>
          <p:spPr>
            <a:xfrm>
              <a:off x="6598737" y="3260085"/>
              <a:ext cx="897518" cy="46382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Inf Stack (</a:t>
              </a:r>
              <a:r>
                <a:rPr lang="en-US" dirty="0" err="1">
                  <a:solidFill>
                    <a:schemeClr val="bg1"/>
                  </a:solidFill>
                </a:rPr>
                <a:t>e.g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vLLM</a:t>
              </a:r>
              <a:r>
                <a:rPr lang="en-US" dirty="0">
                  <a:solidFill>
                    <a:schemeClr val="bg1"/>
                  </a:solidFill>
                </a:rPr>
                <a:t>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7C3809-616A-116E-0D32-42301E38D07A}"/>
                </a:ext>
              </a:extLst>
            </p:cNvPr>
            <p:cNvSpPr/>
            <p:nvPr/>
          </p:nvSpPr>
          <p:spPr>
            <a:xfrm rot="16200000">
              <a:off x="8294071" y="2277141"/>
              <a:ext cx="430111" cy="25381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IS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32D285-96C3-C803-2C34-BBF13D709047}"/>
                </a:ext>
              </a:extLst>
            </p:cNvPr>
            <p:cNvSpPr/>
            <p:nvPr/>
          </p:nvSpPr>
          <p:spPr>
            <a:xfrm>
              <a:off x="7869905" y="2745647"/>
              <a:ext cx="499152" cy="430112"/>
            </a:xfrm>
            <a:prstGeom prst="rect">
              <a:avLst/>
            </a:prstGeom>
            <a:solidFill>
              <a:srgbClr val="00B050">
                <a:alpha val="6973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SA</a:t>
              </a:r>
              <a:r>
                <a:rPr lang="en-US" baseline="-25000">
                  <a:solidFill>
                    <a:schemeClr val="tx1"/>
                  </a:solidFill>
                </a:rPr>
                <a:t>i,j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D75E29C-6417-8FFF-BD3E-CE47D1DE5F00}"/>
                </a:ext>
              </a:extLst>
            </p:cNvPr>
            <p:cNvSpPr/>
            <p:nvPr/>
          </p:nvSpPr>
          <p:spPr>
            <a:xfrm rot="16200000">
              <a:off x="8287491" y="2823680"/>
              <a:ext cx="430111" cy="26697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IS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FB5F353-4E85-70E1-ACEE-5CD457035BC7}"/>
                </a:ext>
              </a:extLst>
            </p:cNvPr>
            <p:cNvCxnSpPr>
              <a:cxnSpLocks/>
            </p:cNvCxnSpPr>
            <p:nvPr/>
          </p:nvCxnSpPr>
          <p:spPr>
            <a:xfrm>
              <a:off x="8713456" y="2975120"/>
              <a:ext cx="117798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F188CAE-2E05-95B1-0C12-F7DE95BF7C7C}"/>
                </a:ext>
              </a:extLst>
            </p:cNvPr>
            <p:cNvSpPr/>
            <p:nvPr/>
          </p:nvSpPr>
          <p:spPr>
            <a:xfrm>
              <a:off x="7869994" y="3662575"/>
              <a:ext cx="512223" cy="430112"/>
            </a:xfrm>
            <a:prstGeom prst="rect">
              <a:avLst/>
            </a:prstGeom>
            <a:solidFill>
              <a:srgbClr val="00B050">
                <a:alpha val="6973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SA</a:t>
              </a:r>
              <a:r>
                <a:rPr lang="en-US" baseline="-25000">
                  <a:solidFill>
                    <a:schemeClr val="tx1"/>
                  </a:solidFill>
                </a:rPr>
                <a:t>n,n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4FECBF5-61DD-B497-F918-5A56AE52072C}"/>
                </a:ext>
              </a:extLst>
            </p:cNvPr>
            <p:cNvSpPr/>
            <p:nvPr/>
          </p:nvSpPr>
          <p:spPr>
            <a:xfrm rot="16200000">
              <a:off x="8304191" y="3748486"/>
              <a:ext cx="430111" cy="27405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IS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AD073DC-3E50-9A2F-2858-8A3FBC47D5F4}"/>
              </a:ext>
            </a:extLst>
          </p:cNvPr>
          <p:cNvSpPr txBox="1"/>
          <p:nvPr/>
        </p:nvSpPr>
        <p:spPr>
          <a:xfrm>
            <a:off x="1738856" y="4689607"/>
            <a:ext cx="3326735" cy="376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5EDA64-DFFD-88D6-FA6D-BEFD8A2AF10B}"/>
              </a:ext>
            </a:extLst>
          </p:cNvPr>
          <p:cNvSpPr txBox="1"/>
          <p:nvPr/>
        </p:nvSpPr>
        <p:spPr>
          <a:xfrm>
            <a:off x="2646846" y="31989"/>
            <a:ext cx="6898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Background: Agent Ecosystem</a:t>
            </a:r>
          </a:p>
        </p:txBody>
      </p:sp>
    </p:spTree>
    <p:extLst>
      <p:ext uri="{BB962C8B-B14F-4D97-AF65-F5344CB8AC3E}">
        <p14:creationId xmlns:p14="http://schemas.microsoft.com/office/powerpoint/2010/main" val="376417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8700F2-1620-3736-FD53-134F699A837A}"/>
              </a:ext>
            </a:extLst>
          </p:cNvPr>
          <p:cNvSpPr txBox="1"/>
          <p:nvPr/>
        </p:nvSpPr>
        <p:spPr>
          <a:xfrm>
            <a:off x="1375954" y="31989"/>
            <a:ext cx="10049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Use Cases: Multi-Lingual Data And Agents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2FCEA-098E-18E4-0AD8-0423BA8482A0}"/>
              </a:ext>
            </a:extLst>
          </p:cNvPr>
          <p:cNvSpPr txBox="1"/>
          <p:nvPr/>
        </p:nvSpPr>
        <p:spPr>
          <a:xfrm>
            <a:off x="357050" y="1018903"/>
            <a:ext cx="1131243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Healthcare navigation agents: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E.g. Query systems in </a:t>
            </a:r>
            <a:r>
              <a:rPr lang="en-US" sz="2000" dirty="0" err="1"/>
              <a:t>indic</a:t>
            </a:r>
            <a:r>
              <a:rPr lang="en-US" sz="2000" dirty="0"/>
              <a:t> languages, summarize the case and triage it for remote tele-consultations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Educator agents: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E.g. Repurpose cross-lingual student interactions data across regions, dialect aware tutoring, student’s linguistic knowledge-aware multi-lingual content generation, vocational skill training and counseling.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Hyper-local commerce and banking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Law &amp; Order: </a:t>
            </a:r>
            <a:r>
              <a:rPr lang="en-US" sz="2000" dirty="0"/>
              <a:t>Multi-lingual grievance redressal systems</a:t>
            </a:r>
            <a:endParaRPr lang="en-US" sz="2000" b="1" dirty="0"/>
          </a:p>
          <a:p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Rural services: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E.g. Agriculture advisory, welfare scheme awareness, health and sanitation awareness in rural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227230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1D7946-8221-D303-185B-EE3D996CAB7A}"/>
              </a:ext>
            </a:extLst>
          </p:cNvPr>
          <p:cNvSpPr txBox="1"/>
          <p:nvPr/>
        </p:nvSpPr>
        <p:spPr>
          <a:xfrm>
            <a:off x="1071154" y="0"/>
            <a:ext cx="10049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00B69-D3C0-0B30-6D93-4B8E8029DF80}"/>
              </a:ext>
            </a:extLst>
          </p:cNvPr>
          <p:cNvSpPr txBox="1"/>
          <p:nvPr/>
        </p:nvSpPr>
        <p:spPr>
          <a:xfrm>
            <a:off x="348344" y="496388"/>
            <a:ext cx="1194816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Data retrieval and alignment gaps: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Cross-lingual retrieval issues induced by latent space fragmentation across languages, can cause the agentic memory to fragment.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000" dirty="0"/>
              <a:t>Sundar, A., Williamson, S., Metcalf, K., Theobald, B. J., Seto, S., &amp; </a:t>
            </a:r>
            <a:r>
              <a:rPr lang="en-US" sz="1000" dirty="0" err="1"/>
              <a:t>Fedzechkina</a:t>
            </a:r>
            <a:r>
              <a:rPr lang="en-US" sz="1000" dirty="0"/>
              <a:t>, M. (2025, July). Steering into new embedding spaces: Analyzing cross-lingual alignment induced by model interventions in multilingual language models. In Proceedings of the 63rd Annual Meeting of the Association for Computational Linguistics (Volume 1: Long Papers) (pp. 2375-2401). </a:t>
            </a:r>
            <a:r>
              <a:rPr lang="en-US" sz="1000" dirty="0">
                <a:hlinkClick r:id="rId2"/>
              </a:rPr>
              <a:t>https://aclanthology.org/2025.acl-long.118.pdf</a:t>
            </a:r>
            <a:endParaRPr lang="en-US" sz="1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Cross-language phrases in memory might remain mis-aligned unless explicitly aligned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Morphological issues arising from tokenization problems from </a:t>
            </a:r>
            <a:r>
              <a:rPr lang="en-US" sz="1600" dirty="0" err="1"/>
              <a:t>indic</a:t>
            </a:r>
            <a:r>
              <a:rPr lang="en-US" sz="1600" dirty="0"/>
              <a:t> languages could aggravate in cross-lingual memory retrieval alignment.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1000" dirty="0"/>
              <a:t>Xu, Nuo, and </a:t>
            </a:r>
            <a:r>
              <a:rPr lang="en-IN" sz="1000" dirty="0" err="1"/>
              <a:t>Ahrii</a:t>
            </a:r>
            <a:r>
              <a:rPr lang="en-IN" sz="1000" dirty="0"/>
              <a:t> Kim. "Tokenization and Morphological Fidelity in Uralic NLP: A Cross-Lingual Evaluation." </a:t>
            </a:r>
            <a:r>
              <a:rPr lang="en-IN" sz="1000" dirty="0" err="1"/>
              <a:t>arXiv</a:t>
            </a:r>
            <a:r>
              <a:rPr lang="en-IN" sz="1000" dirty="0"/>
              <a:t> preprint arXiv:2602.04241 (2026).</a:t>
            </a:r>
            <a:endParaRPr lang="en-US" sz="1000" dirty="0"/>
          </a:p>
          <a:p>
            <a:pPr lvl="1"/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Reasoning bottlenecks:</a:t>
            </a:r>
            <a:r>
              <a:rPr lang="en-US" dirty="0"/>
              <a:t>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Limitations in the agent’s ability to reason when presented with experiential context which is cross-lingual.</a:t>
            </a:r>
            <a:endParaRPr lang="en-US" sz="1600" b="1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1000" dirty="0"/>
              <a:t>Liu, Wei, Sony </a:t>
            </a:r>
            <a:r>
              <a:rPr lang="en-IN" sz="1000" dirty="0" err="1"/>
              <a:t>Trenous</a:t>
            </a:r>
            <a:r>
              <a:rPr lang="en-IN" sz="1000" dirty="0"/>
              <a:t>, Leonardo FR Ribeiro, Bill Byrne, and Felix Hieber. "Xrag: Cross-lingual retrieval-augmented generation." </a:t>
            </a:r>
            <a:r>
              <a:rPr lang="en-IN" sz="1000" i="1" dirty="0" err="1"/>
              <a:t>arXiv</a:t>
            </a:r>
            <a:r>
              <a:rPr lang="en-IN" sz="1000" i="1" dirty="0"/>
              <a:t> preprint arXiv:2505.10089</a:t>
            </a:r>
            <a:r>
              <a:rPr lang="en-IN" sz="1000" dirty="0"/>
              <a:t> (2025). </a:t>
            </a:r>
            <a:r>
              <a:rPr lang="en-IN" sz="1000" dirty="0">
                <a:hlinkClick r:id="rId3"/>
              </a:rPr>
              <a:t>https://aclanthology.org/2025.findings-emnlp.849.pdf</a:t>
            </a:r>
            <a:endParaRPr lang="en-US" sz="1000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Issues in bridging the agent’s past chain-of-thought traces with new cross-lingual memory. E.g. if agent produces </a:t>
            </a:r>
            <a:r>
              <a:rPr lang="en-US" sz="1600" dirty="0" err="1"/>
              <a:t>CoT</a:t>
            </a:r>
            <a:r>
              <a:rPr lang="en-US" sz="1600" dirty="0"/>
              <a:t> in English, which gets stored in memory, how do we repurpose it for new additions cross-lingual factual text and queries?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Semantic memory drift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050" dirty="0"/>
              <a:t>Semantic Drift in Multilingual Representations, https://</a:t>
            </a:r>
            <a:r>
              <a:rPr lang="en-US" sz="1050" dirty="0" err="1"/>
              <a:t>aclanthology.org</a:t>
            </a:r>
            <a:r>
              <a:rPr lang="en-US" sz="1050" dirty="0"/>
              <a:t>/2020.cl-3.2.pdf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Socio-cultural priorities impacting agent operations: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Behavioral drift: </a:t>
            </a:r>
            <a:r>
              <a:rPr lang="en-US" dirty="0"/>
              <a:t>When agents are used by micro-ethnicities, the memory might drift towards in one dominant direction, while the minority ethnicities might get negatively affected. How to balance this drift?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1000" dirty="0"/>
              <a:t>Tan, Qian, Lei Jiang, Yuting Zeng, </a:t>
            </a:r>
            <a:r>
              <a:rPr lang="en-IN" sz="1000" dirty="0" err="1"/>
              <a:t>Shuoyang</a:t>
            </a:r>
            <a:r>
              <a:rPr lang="en-IN" sz="1000" dirty="0"/>
              <a:t> Ding, and Xiaohua Xu. "Mitigating Cultural Bias in LLMs via Multi-Agent Cultural Debate." </a:t>
            </a:r>
            <a:r>
              <a:rPr lang="en-IN" sz="1000" i="1" dirty="0" err="1"/>
              <a:t>arXiv</a:t>
            </a:r>
            <a:r>
              <a:rPr lang="en-IN" sz="1000" i="1" dirty="0"/>
              <a:t> preprint arXiv:2601.12091</a:t>
            </a:r>
            <a:r>
              <a:rPr lang="en-IN" sz="1000" dirty="0"/>
              <a:t> (2026). </a:t>
            </a:r>
            <a:r>
              <a:rPr lang="en-IN" sz="1000" dirty="0">
                <a:hlinkClick r:id="rId4"/>
              </a:rPr>
              <a:t>https://arxiv.org/pdf/2601.12091</a:t>
            </a:r>
            <a:endParaRPr lang="en-IN" sz="1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b="1" dirty="0"/>
              <a:t>Safety and compliance in Low-resource settings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b="1" dirty="0"/>
              <a:t>Agent inference reasoning latency issues with low-resource languages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52729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E76A4B-7D97-7AC9-682E-FB273A2AAC63}"/>
              </a:ext>
            </a:extLst>
          </p:cNvPr>
          <p:cNvSpPr txBox="1"/>
          <p:nvPr/>
        </p:nvSpPr>
        <p:spPr>
          <a:xfrm>
            <a:off x="1071154" y="0"/>
            <a:ext cx="10049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Potential Directions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76D69-3D47-0AC3-7639-BCFE1FB00DA7}"/>
              </a:ext>
            </a:extLst>
          </p:cNvPr>
          <p:cNvSpPr txBox="1"/>
          <p:nvPr/>
        </p:nvSpPr>
        <p:spPr>
          <a:xfrm>
            <a:off x="557349" y="931817"/>
            <a:ext cx="11399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/>
              <a:t>Effective knowledge assimilation techniques  for multiple, differential resource languages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/>
              <a:t>Synthetic reasoning augmentation approaches for cross-lingual text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/>
              <a:t>Dynamic on-read/on-write memory management techniques to manage alignment and drift issues in multi-lingual memory</a:t>
            </a:r>
          </a:p>
        </p:txBody>
      </p:sp>
    </p:spTree>
    <p:extLst>
      <p:ext uri="{BB962C8B-B14F-4D97-AF65-F5344CB8AC3E}">
        <p14:creationId xmlns:p14="http://schemas.microsoft.com/office/powerpoint/2010/main" val="2971216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597</Words>
  <Application>Microsoft Macintosh PowerPoint</Application>
  <PresentationFormat>Widescreen</PresentationFormat>
  <Paragraphs>59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Agentic Memory For Sovereign Indic AI Agents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Padmanabha Venkatagiri Seshadri</dc:creator>
  <cp:lastModifiedBy>Padmanabha Venkatagiri Seshadri</cp:lastModifiedBy>
  <cp:revision>2</cp:revision>
  <dcterms:created xsi:type="dcterms:W3CDTF">2026-03-11T04:18:17Z</dcterms:created>
  <dcterms:modified xsi:type="dcterms:W3CDTF">2026-03-11T06:23:59Z</dcterms:modified>
</cp:coreProperties>
</file>